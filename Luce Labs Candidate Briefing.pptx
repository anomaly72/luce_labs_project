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SemiBold" panose="020B0502040204020203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9CE091-183F-4EF9-BAF2-99D106219199}">
  <a:tblStyle styleId="{9C9CE091-183F-4EF9-BAF2-99D10621919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59a48046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f59a48046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59a480463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59a480463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50" y="210975"/>
            <a:ext cx="11136901" cy="64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43475" y="3464250"/>
            <a:ext cx="110490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00" y="2269825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Luce Labs Control Project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218425" y="3581238"/>
            <a:ext cx="1755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Jacob</a:t>
            </a:r>
            <a:r>
              <a:rPr lang="en-US" sz="15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00" b="0" i="0" u="none" strike="noStrik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Kozik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992975" y="3922263"/>
            <a:ext cx="2205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July 20,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242800" y="6282825"/>
            <a:ext cx="37002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Fig. 1. Modified screenshot of a Luce Labs growing rack [1]</a:t>
            </a:r>
            <a:endParaRPr sz="1000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7375" y="1143000"/>
            <a:ext cx="5819849" cy="52011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52400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primary architectural goal is to maximize modularity and longevity while keeping cost and user complexity minimal.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04850" y="257175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2571750"/>
            <a:ext cx="50484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Matter Integration: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Leverages Home Assistant (HA) as the central controller.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04850" y="328612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3286125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Shared I2C Bus: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Uses I2C multiplexers so sensors can be uniquely identified and reused across every rack layer.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04850" y="43854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4385400"/>
            <a:ext cx="50484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Raspberry Pi: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Acts as the Matter Bridge, detecting new sensors and assigning devices within the network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It also coordinates control signals to the I2C actuators.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 Overview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7325" y="1268325"/>
            <a:ext cx="5459949" cy="495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3429000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524000"/>
            <a:ext cx="3429000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524000"/>
            <a:ext cx="3429000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66775" y="2609850"/>
            <a:ext cx="216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I2C Hardware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66775" y="3152775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Sensors plug into specific rack layers. The I2C multiplexer allows the Raspberry Pi to detect and assign unique I2C addresses dynamically.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76775" y="2609850"/>
            <a:ext cx="186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Matter SDK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76775" y="3152775"/>
            <a:ext cx="2838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Configured using C++. The Raspberry Pi application layer (written in Python) interfaces with Linux, configuring each layer as a discrete Matter device.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86775" y="2609850"/>
            <a:ext cx="2590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Home Assistant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86775" y="3152775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Matter Controller subscribes to the devices published by the Pi. Each layer maintains updated sensor data and actuator controls.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9907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19907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6775" y="19907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&amp; Software Layers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5286375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24000"/>
            <a:ext cx="5286375" cy="44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962025" y="1914525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Advantages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962025" y="2409825"/>
            <a:ext cx="4505325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724650" y="1914525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Drawbacks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6724650" y="2409825"/>
            <a:ext cx="4505325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095375" y="26193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200150" y="2619375"/>
            <a:ext cx="4267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Plug-and-Play Setup: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Users simply plug sensors into I2C ports and select the device type from a pre-configured list.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95375" y="36195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200150" y="3619500"/>
            <a:ext cx="4267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Granular Control: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Because each layer is a unique Matter device, it can be individually monitored and controlled in HA.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095375" y="461962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200150" y="4619625"/>
            <a:ext cx="4267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Cost Effective: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Avoids expensive proprietary wireless protocols per sensor.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858000" y="26193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962775" y="2619375"/>
            <a:ext cx="4267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Wiring Dependency: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Reliant on physical I2C cables rather than wireless mesh networks (e.g., native Zigbee).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858000" y="36195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962775" y="3619500"/>
            <a:ext cx="4267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Environmental Risk: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I2C connectors require specialized protection from humidity to prevent rust.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858000" y="461962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962775" y="4619625"/>
            <a:ext cx="4267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Development Load: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Raspberry Pi software layer introduces significant complexity and development time.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Architectural Trade-offs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71500" y="1190625"/>
            <a:ext cx="10229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current architecture contains critical centralized nodes. Failure mapping reveals two primary vulnerabilities: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1762125"/>
            <a:ext cx="11049000" cy="142875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1333500" y="2000250"/>
            <a:ext cx="100012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Raspberry Pi &amp; I2C Bus Failure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All signals route through the Pi and over Wi-Fi. If the Raspberry Pi fails or the primary I2C bus drops, the entire hardware rack ceases to function.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3381375"/>
            <a:ext cx="11049000" cy="142875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1333500" y="3619500"/>
            <a:ext cx="100012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Home Assistant Controller Failure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If the Home Assistant server loses power or drops off the network, all connected racks lose their control logic and synchronization.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5000625"/>
            <a:ext cx="11049000" cy="142875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333500" y="5238750"/>
            <a:ext cx="100012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Proposed Mitigation Strategy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Run the primary control logic locally on the Raspberry Pi. Home Assistant will only send operational parameters to a prebuilt control function, ensuring racks remain functional offline.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71500" y="31813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571500" y="4800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64198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20050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36242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524351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14375" y="238125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Single Points of Failure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238125"/>
            <a:ext cx="57150" cy="571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714375" y="571500"/>
            <a:ext cx="5400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Control System Design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571500" y="20193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Hysteresis Regulation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2667000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core control algorithm utilizes a threshold-based hysteresis controller. To ensure stability and prevent erratic triggering from sensor fluctuations, a digital lowpass filter is applied to attenuate high-frequency noise.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438150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Actuator Focus: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primary actuator is the exhaust fan. It serves as a homogeneous regulator, actively exhausting both excess heat and accumulated humidity from the plant environment.</a:t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3850" y="2019300"/>
            <a:ext cx="5164474" cy="312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24375"/>
            <a:ext cx="254124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7419" y="1695450"/>
            <a:ext cx="254124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01075" y="4524375"/>
            <a:ext cx="3625825" cy="210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9250" y="2088750"/>
            <a:ext cx="2541250" cy="176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/>
          <p:nvPr/>
        </p:nvSpPr>
        <p:spPr>
          <a:xfrm>
            <a:off x="571500" y="417195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819150" y="4772025"/>
            <a:ext cx="21482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Data Acquisition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19150" y="5153025"/>
            <a:ext cx="20459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Poll I2C sensors sequentially to read real-time temperature and ambient humidity.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3655069" y="1943100"/>
            <a:ext cx="21482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Signal Filtering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3655069" y="2324100"/>
            <a:ext cx="2046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Apply digital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low pass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filters to the raw data stream to eliminate false spikes.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040064" y="4772025"/>
            <a:ext cx="214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Threshold Comparison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040075" y="5438775"/>
            <a:ext cx="3039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Compare the smoothed data against upper/lower control limits defined by Home Assistant.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9326909" y="2336400"/>
            <a:ext cx="214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Actuation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326909" y="2717400"/>
            <a:ext cx="204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Trigger the exhaust fan via PWM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from an I2C signal.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Control Logic Execution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1727820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563740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7399659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10235579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714375" y="571500"/>
            <a:ext cx="540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Control Simulation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71500" y="1143000"/>
            <a:ext cx="4959900" cy="55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808080"/>
                </a:solidFill>
              </a:rPr>
              <a:t>// Basic Low Pass filter (moving average) if sampling rate is sufficient</a:t>
            </a:r>
            <a:endParaRPr sz="900">
              <a:solidFill>
                <a:srgbClr val="80808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temperature = (previous_temperature + current_temperature)/2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relative_humidity = (previous_humidity + current_humidity)/2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 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808080"/>
                </a:solidFill>
              </a:rPr>
              <a:t>// Tuning parameter placeholders</a:t>
            </a:r>
            <a:endParaRPr sz="900">
              <a:solidFill>
                <a:srgbClr val="80808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humidity_buffer = 5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temp_buffer = 5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target_temp = 20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target_humidity = 60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short_cycle_delay = 500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 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808080"/>
                </a:solidFill>
              </a:rPr>
              <a:t>// Control logic</a:t>
            </a:r>
            <a:endParaRPr sz="900">
              <a:solidFill>
                <a:srgbClr val="80808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current_time = get_time()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state_duration = current_time – last_state_change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if fan_state == on AND (temperature &lt;= target_temp - temp_buffer AND relative_humidity &lt;= target_humidity - humidity_buffer) AND state_duration &gt;= short_cycle_delay: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    	fan_state = off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    	last_state_change = current_time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else if fan_state == off AND (temperature &gt; target_temp OR relative_humidity &gt; target_humidity) AND state_duration &gt;= short_cycle_delay: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    	fan_state = on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    	last_state_change = current_time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5500" y="1416150"/>
            <a:ext cx="6103225" cy="419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13525"/>
            <a:ext cx="5286375" cy="42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962025" y="1904050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Controller Limitations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962025" y="2399350"/>
            <a:ext cx="4505400" cy="1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1095375" y="26089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200150" y="2608900"/>
            <a:ext cx="4267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Humidity: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simulation revealed a persistent steady-state error in humidity regulation.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095375" y="3609025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200150" y="3609025"/>
            <a:ext cx="4567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Temperature: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Exhibited sustained oscillations between thresholds in the exhaust mechanism.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095375" y="43234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200150" y="4323400"/>
            <a:ext cx="4267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Improvement: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Findings indicate that a bidirectional fan controller (intake &amp; exhaust) is necessary for precise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Simulation Findings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5550" y="1513525"/>
            <a:ext cx="5286375" cy="42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6656075" y="1904050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Proposed Alternative Controller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6656075" y="2399350"/>
            <a:ext cx="4505400" cy="1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6656075" y="2608900"/>
            <a:ext cx="45054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a bidirectional fan is used, it may be possible to have intake air and exhaust air take different paths through a smart filter such as a tesla valve. One path can cool the air with heat sinks (targeting temperature) and the other can exhaust the air to the room (targeting humidity and temperature).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3125"/>
            <a:ext cx="11049000" cy="19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571425" y="1798775"/>
            <a:ext cx="9963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Main Sensor PCBs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81025" y="2152650"/>
            <a:ext cx="11029800" cy="1935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22"/>
          <p:cNvGraphicFramePr/>
          <p:nvPr/>
        </p:nvGraphicFramePr>
        <p:xfrm>
          <a:off x="581025" y="21526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{9C9CE091-183F-4EF9-BAF2-99D106219199}</a:tableStyleId>
              </a:tblPr>
              <a:tblGrid>
                <a:gridCol w="297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2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Sensor 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Price (Est.)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Temp. 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Humidity 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Pressure 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Adafruit Sensirion SHT45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$12.50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±0.1°C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±1.0%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n/a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Adafruit BME280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$14.95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±1.0°C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±3.0%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±1.0 hPa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3" name="Google Shape;243;p22"/>
          <p:cNvSpPr/>
          <p:nvPr/>
        </p:nvSpPr>
        <p:spPr>
          <a:xfrm>
            <a:off x="581025" y="2786062"/>
            <a:ext cx="29720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553122" y="2786062"/>
            <a:ext cx="16951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5248275" y="2786062"/>
            <a:ext cx="2256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7504807" y="2786062"/>
            <a:ext cx="25922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10097095" y="2786062"/>
            <a:ext cx="15138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581025" y="3433762"/>
            <a:ext cx="29720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553122" y="3433762"/>
            <a:ext cx="16951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248275" y="3433762"/>
            <a:ext cx="2256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7504807" y="3433762"/>
            <a:ext cx="25922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10097095" y="3433762"/>
            <a:ext cx="15138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581025" y="4081462"/>
            <a:ext cx="29720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553122" y="4081462"/>
            <a:ext cx="16951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5248275" y="4081462"/>
            <a:ext cx="2256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7504807" y="4081462"/>
            <a:ext cx="25922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10097095" y="4081462"/>
            <a:ext cx="15138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Sensor Selection Matrix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25" y="4918900"/>
            <a:ext cx="11049000" cy="12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/>
          <p:nvPr/>
        </p:nvSpPr>
        <p:spPr>
          <a:xfrm>
            <a:off x="580950" y="4928425"/>
            <a:ext cx="11029800" cy="1290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2" name="Google Shape;262;p22"/>
          <p:cNvGraphicFramePr/>
          <p:nvPr/>
        </p:nvGraphicFramePr>
        <p:xfrm>
          <a:off x="580950" y="49284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{9C9CE091-183F-4EF9-BAF2-99D106219199}</a:tableStyleId>
              </a:tblPr>
              <a:tblGrid>
                <a:gridCol w="21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Sensor/Fan Controller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Price (Est.)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Temp. 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Control Interface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Key Features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Adafruit EMC2101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$5.95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±1.0°C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I2C -&gt; PWM with a required 12V power supply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Tachometer and temperature sensors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3" name="Google Shape;263;p22"/>
          <p:cNvSpPr/>
          <p:nvPr/>
        </p:nvSpPr>
        <p:spPr>
          <a:xfrm>
            <a:off x="580950" y="5561837"/>
            <a:ext cx="2972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3553047" y="5561837"/>
            <a:ext cx="169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5248200" y="5561837"/>
            <a:ext cx="2256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7504732" y="5561837"/>
            <a:ext cx="2592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10097020" y="5561837"/>
            <a:ext cx="1513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580950" y="6209537"/>
            <a:ext cx="2972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3553047" y="6209537"/>
            <a:ext cx="169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5248200" y="6209537"/>
            <a:ext cx="2256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7504732" y="6209537"/>
            <a:ext cx="2592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10097020" y="6209537"/>
            <a:ext cx="1513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580950" y="6362687"/>
            <a:ext cx="2972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3553047" y="6362687"/>
            <a:ext cx="169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5248200" y="6362687"/>
            <a:ext cx="2256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7504732" y="6362687"/>
            <a:ext cx="2592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10097020" y="6362687"/>
            <a:ext cx="1513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571425" y="4553775"/>
            <a:ext cx="9963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Fan Controller and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Additional Sensor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3125"/>
            <a:ext cx="11049000" cy="19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571500" y="1752975"/>
            <a:ext cx="1015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Evaluation of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Fans</a:t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581025" y="2152650"/>
            <a:ext cx="11029800" cy="1935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7" name="Google Shape;287;p23"/>
          <p:cNvGraphicFramePr/>
          <p:nvPr/>
        </p:nvGraphicFramePr>
        <p:xfrm>
          <a:off x="581025" y="21526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{9C9CE091-183F-4EF9-BAF2-99D106219199}</a:tableStyleId>
              </a:tblPr>
              <a:tblGrid>
                <a:gridCol w="281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Component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Key 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Cost (Est.)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Noctua NF-F12 IP67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Exhaust Fan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Industrial Water &amp; Dust Protection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$29.95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ARCTIC P12 PWM PST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Exhaust Fan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Static Pressure, Daisy Chain, Cheaper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</a:t>
                      </a: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</a:t>
                      </a: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.99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8" name="Google Shape;288;p23"/>
          <p:cNvSpPr/>
          <p:nvPr/>
        </p:nvSpPr>
        <p:spPr>
          <a:xfrm>
            <a:off x="581025" y="2786062"/>
            <a:ext cx="2811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3392090" y="2786062"/>
            <a:ext cx="1974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5366891" y="2786062"/>
            <a:ext cx="4472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9839176" y="2786062"/>
            <a:ext cx="1771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581025" y="3433762"/>
            <a:ext cx="2811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3392090" y="3433762"/>
            <a:ext cx="1974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5366891" y="3433762"/>
            <a:ext cx="4472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9839176" y="3433762"/>
            <a:ext cx="1771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581025" y="4081462"/>
            <a:ext cx="2811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3392090" y="4081462"/>
            <a:ext cx="1974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5366891" y="4081462"/>
            <a:ext cx="4472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9839176" y="4081462"/>
            <a:ext cx="1771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Actuator Selection Matrix</a:t>
            </a:r>
            <a:endParaRPr/>
          </a:p>
        </p:txBody>
      </p:sp>
      <p:sp>
        <p:nvSpPr>
          <p:cNvPr id="301" name="Google Shape;301;p2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3429000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524000"/>
            <a:ext cx="3429000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524000"/>
            <a:ext cx="3429000" cy="4276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866775" y="2609850"/>
            <a:ext cx="2980372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Conceptual Learning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866775" y="3552825"/>
            <a:ext cx="2838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 models were utilized to quickly synthesize and comprehend the complex differences between Matter, Thread, and native Home Assistant protocols.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4676775" y="2609850"/>
            <a:ext cx="268033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Logic Simulation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4676775" y="3152775"/>
            <a:ext cx="28386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Leveraged for generating initial Python scripts to simulate the hysteresis control loops and plot the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temperature and humidity.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8486775" y="2609850"/>
            <a:ext cx="231028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Configuration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8486775" y="3152775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Used to draft and format the boilerplate YAML configuration files necessary for Home Assistant entity mapping and integrations.</a:t>
            </a:r>
            <a:endParaRPr/>
          </a:p>
        </p:txBody>
      </p:sp>
      <p:pic>
        <p:nvPicPr>
          <p:cNvPr id="316" name="Google Shape;31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9907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19907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6775" y="19907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4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 Utility in Design Process</a:t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95750"/>
            <a:ext cx="1104900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5"/>
          <p:cNvSpPr txBox="1"/>
          <p:nvPr/>
        </p:nvSpPr>
        <p:spPr>
          <a:xfrm>
            <a:off x="295275" y="2124075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571500" y="3343275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Thank you for your time and feedback.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"/>
          <p:cNvSpPr txBox="1"/>
          <p:nvPr/>
        </p:nvSpPr>
        <p:spPr>
          <a:xfrm>
            <a:off x="705225" y="989125"/>
            <a:ext cx="59622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 txBox="1"/>
          <p:nvPr/>
        </p:nvSpPr>
        <p:spPr>
          <a:xfrm>
            <a:off x="805950" y="2051550"/>
            <a:ext cx="56784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[1] Luce Labs, "Luce Labs," https://www.lucelabs.ai/, accessed Jul. 23, 2026.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Office PowerPoint</Application>
  <PresentationFormat>Widescreen</PresentationFormat>
  <Paragraphs>136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Poppins</vt:lpstr>
      <vt:lpstr>Calibri</vt:lpstr>
      <vt:lpstr>Inter SemiBold</vt:lpstr>
      <vt:lpstr>Inter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Jacob Kozik</cp:lastModifiedBy>
  <cp:revision>1</cp:revision>
  <dcterms:modified xsi:type="dcterms:W3CDTF">2026-07-23T17:51:40Z</dcterms:modified>
</cp:coreProperties>
</file>